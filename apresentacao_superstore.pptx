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B5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484247</c:v>
                </c:pt>
                <c:pt idx="1">
                  <c:v>470532</c:v>
                </c:pt>
                <c:pt idx="2">
                  <c:v>609206</c:v>
                </c:pt>
                <c:pt idx="3">
                  <c:v>733215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de Lucro (%)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3.88</c:v>
                </c:pt>
                <c:pt idx="1">
                  <c:v>13.8</c:v>
                </c:pt>
                <c:pt idx="2">
                  <c:v>15.61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(%)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Chairs</c:v>
                  </c:pt>
                  <c:pt idx="3">
                    <c:v>Furnishings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-14.77</c:v>
                </c:pt>
                <c:pt idx="1">
                  <c:v>-12.66</c:v>
                </c:pt>
                <c:pt idx="2">
                  <c:v>4.39</c:v>
                </c:pt>
                <c:pt idx="3">
                  <c:v>13.71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Desconto Medio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Chairs</c:v>
                  </c:pt>
                  <c:pt idx="3">
                    <c:v>Furnishings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26.1</c:v>
                </c:pt>
                <c:pt idx="1">
                  <c:v>21.1</c:v>
                </c:pt>
                <c:pt idx="2">
                  <c:v>17</c:v>
                </c:pt>
                <c:pt idx="3">
                  <c:v>13.8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Financeira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 |  2014 – 2017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383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de lojas americana fatura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milhoes por ano — mas onde esta o lucro?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6126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Villar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de Data Science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28016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417320"/>
            <a:ext cx="2743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9.994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2322576"/>
            <a:ext cx="2743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Analisados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128016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1417320"/>
            <a:ext cx="2743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78240" y="2322576"/>
            <a:ext cx="2743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(2014-2017)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38328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3520440"/>
            <a:ext cx="2743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4425696"/>
            <a:ext cx="2743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338328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0" y="3520440"/>
            <a:ext cx="2743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778240" y="4425696"/>
            <a:ext cx="2743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Cobertos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das Vendas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Superstore cresceu consistentemente — mas o lucro acompanha o ritmo?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459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645920"/>
            <a:ext cx="338328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0" y="1645920"/>
            <a:ext cx="73152" cy="4114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22860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A726"/>
                </a:solidFill>
              </a:rPr>
              <a:t>+51%
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crescimento no
faturamento entre
2014 e 2017
</a:t>
            </a:r>
            <a:endParaRPr lang="en-US" sz="3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</a:rPr>
              <a:t>Mas o lucro cresce</a:t>
            </a:r>
            <a:endParaRPr lang="en-US" sz="3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</a:rPr>
              <a:t>na mesma proporcao?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Aparece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calcular a margem de lucro, uma categoria se destaca negativamente.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459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645920"/>
            <a:ext cx="4297680" cy="1188720"/>
          </a:xfrm>
          <a:prstGeom prst="rect">
            <a:avLst/>
          </a:prstGeom>
          <a:solidFill>
            <a:srgbClr val="1A3E1A"/>
          </a:solidFill>
          <a:ln w="12700">
            <a:solidFill>
              <a:srgbClr val="1A3E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Saudavel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3017520"/>
            <a:ext cx="4297680" cy="1188720"/>
          </a:xfrm>
          <a:prstGeom prst="rect">
            <a:avLst/>
          </a:prstGeom>
          <a:solidFill>
            <a:srgbClr val="1A3E1A"/>
          </a:solidFill>
          <a:ln w="12700">
            <a:solidFill>
              <a:srgbClr val="1A3E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Saudavel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4389120"/>
            <a:ext cx="4297680" cy="1188720"/>
          </a:xfrm>
          <a:prstGeom prst="rect">
            <a:avLst/>
          </a:prstGeom>
          <a:solidFill>
            <a:srgbClr val="3E1A1A"/>
          </a:solidFill>
          <a:ln w="12700">
            <a:solidFill>
              <a:srgbClr val="3E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80960" y="4480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0120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Raiz: Dentro de Furniture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e Bookcases estao sendo vendidas com prejuizo — a empresa perde dinheiro a cada venda.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4592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Medio por Subcategoria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92240" y="19202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Vilao: Descontos Excessivos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desconto destroi o lucro sem aumentar as vendas.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6576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365760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Correlacao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x Lucro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6576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37360"/>
            <a:ext cx="3657600" cy="640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2976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Correlacao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x Vendas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576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37360"/>
            <a:ext cx="3657600" cy="640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que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prejuizo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11430000" cy="2560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74720"/>
            <a:ext cx="91440" cy="25603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revelam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concede descontos de ate 70% em alguns produtos de Furniture.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30% de desconto, praticamente toda venda se torna prejuizo.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grave: o desconto nao aumenta as vendas (correlacao -0.03). A empresa esta simplesmente perdendo dinheiro.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Conclusoes e Recomendacoes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57784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politica de descontos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descontos em Tables e Bookcases a no maximo 20%. Acima disso, toda venda gera prejuizo.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5778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463040"/>
            <a:ext cx="5577840" cy="640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Renegociar com fornecedores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se os custos de fornecimento de Tables e Bookcases podem ser reduzidos para tornar a margem viavel.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55778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5577840" cy="640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Technology e Office Supplies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categorias tem margens saudaveis acima de 13%. Focar os esforcos de vendas nessas categorias.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5778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749040"/>
            <a:ext cx="557784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margem mensalmente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4805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margem por categoria e subcategoria mensalmente para identificar problemas antes que se agravem.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Villar  |  Estudante de Data Science  |  Python · Pandas · Seaborn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Analise Financeira Empresarial — Superstore</dc:title>
  <dc:subject>PptxGenJS Presentation</dc:subject>
  <dc:creator>Arthur Villar</dc:creator>
  <cp:lastModifiedBy>Arthur Villar</cp:lastModifiedBy>
  <cp:revision>1</cp:revision>
  <dcterms:created xsi:type="dcterms:W3CDTF">2026-05-03T00:50:23Z</dcterms:created>
  <dcterms:modified xsi:type="dcterms:W3CDTF">2026-05-03T00:50:23Z</dcterms:modified>
</cp:coreProperties>
</file>